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0" r:id="rId4"/>
    <p:sldId id="272" r:id="rId5"/>
    <p:sldId id="273" r:id="rId6"/>
    <p:sldId id="282" r:id="rId7"/>
    <p:sldId id="259" r:id="rId8"/>
    <p:sldId id="280" r:id="rId9"/>
    <p:sldId id="275" r:id="rId10"/>
    <p:sldId id="279" r:id="rId11"/>
    <p:sldId id="271" r:id="rId12"/>
    <p:sldId id="278" r:id="rId13"/>
    <p:sldId id="277" r:id="rId14"/>
    <p:sldId id="266" r:id="rId15"/>
    <p:sldId id="265" r:id="rId16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A993B6-3256-9746-AFB4-C75AB1DB52BA}" v="1336" dt="2024-11-13T04:25:55.342"/>
    <p1510:client id="{54E3A723-4A21-4A03-8BA1-55E42F9199F2}" v="1306" dt="2024-11-13T04:44:47.032"/>
    <p1510:client id="{F1973342-8ECB-AF40-8A10-972C1EDBCF49}" v="2505" dt="2024-11-13T04:31:07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45F39-2039-6449-9615-84AB60A7C051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39854-C009-E94F-A2B5-18575CDE7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88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39854-C009-E94F-A2B5-18575CDE79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93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39854-C009-E94F-A2B5-18575CDE79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55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0A359-2FB3-4847-9D97-3491754AA7F9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4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8603A-2399-D64A-8203-C8F297F981E8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35563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71F39-3D09-F149-B1A1-DC2A7DB4A435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8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7E973-E761-9943-801C-DE1E51E28431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6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50504"/>
            <a:ext cx="8229600" cy="80129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E534-2B3A-FA4B-B87A-8AC244117610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9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DFFB5-C0BC-DE4D-9A38-E0EE75FC9E15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8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70F-F7E3-1F40-B6F3-59FE945D5A70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0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E9B0-C3DF-544F-BB14-A487ECCC7F43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4B1CF-5E0C-5D41-A3E2-D78942339385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0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C5DAC-1A13-D34F-9418-D6257772B49C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9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C0D93-568E-6D41-8E6D-0963A71A503C}" type="datetimeFigureOut">
              <a:rPr lang="en-US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Line One</a:t>
            </a:r>
            <a:br>
              <a:rPr lang="en-US"/>
            </a:br>
            <a:r>
              <a:rPr lang="en-US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266950"/>
            <a:ext cx="8229600" cy="2327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944504B-B211-B34D-97AF-78446C71FCDD}" type="datetimeFigureOut">
              <a:rPr lang="en-US" smtClean="0"/>
              <a:pPr>
                <a:defRPr/>
              </a:pPr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52194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statsperform.com/opta-event-definitions/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www.statsperform.com/team-performance/football-performance/sportv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medium.com/@trym.sorum/how-liverpool-made-data-their-competitive-advantage-c1ff8bd84e69#:~:text=Since%202012%20when%20they%20started,first%20League%20title%20in%2030" TargetMode="External"/><Relationship Id="rId4" Type="http://schemas.openxmlformats.org/officeDocument/2006/relationships/hyperlink" Target="https://www.transfermarkt.us/new-world-record-total-spending-on-transfer-fees-breaks-euro-10b-mark-in-23-24-season/view/news/43355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9046485" TargetMode="External"/><Relationship Id="rId2" Type="http://schemas.openxmlformats.org/officeDocument/2006/relationships/hyperlink" Target="https://cs229.stanford.edu/proj2014/Ben%20Ulmer,%20Matt%20Fernandez,%20Predicting%20Soccer%20Results%20in%20the%20English%20Premier%20League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l.acm.org/doi/10.1145/3343172" TargetMode="External"/><Relationship Id="rId5" Type="http://schemas.openxmlformats.org/officeDocument/2006/relationships/hyperlink" Target="https://cs229.stanford.edu/proj2014/Jongho%20Shin,%20Robert%20Gasparyan,%20A%20novel%20way%20to%20Soccer%20Match%20Prediction.pdf" TargetMode="External"/><Relationship Id="rId4" Type="http://schemas.openxmlformats.org/officeDocument/2006/relationships/hyperlink" Target="https://www.sciencedirect.com/science/article/pii/S016920702300033X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Title 1"/>
          <p:cNvSpPr>
            <a:spLocks noGrp="1"/>
          </p:cNvSpPr>
          <p:nvPr>
            <p:ph type="ctrTitle"/>
          </p:nvPr>
        </p:nvSpPr>
        <p:spPr>
          <a:xfrm>
            <a:off x="685800" y="1040734"/>
            <a:ext cx="7772400" cy="1131203"/>
          </a:xfrm>
        </p:spPr>
        <p:txBody>
          <a:bodyPr/>
          <a:lstStyle/>
          <a:p>
            <a:r>
              <a:rPr lang="en-US" sz="4800"/>
              <a:t>Soccer Sage</a:t>
            </a:r>
            <a:endParaRPr lang="en-US" sz="4800">
              <a:latin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41308"/>
            <a:ext cx="6400800" cy="606217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US"/>
              <a:t>Forecasting the Future of Soccer</a:t>
            </a:r>
            <a:endParaRPr lang="en-US">
              <a:ea typeface="+mn-ea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25C024-0BC7-F31A-E1EF-114E1F74AB60}"/>
              </a:ext>
            </a:extLst>
          </p:cNvPr>
          <p:cNvSpPr txBox="1">
            <a:spLocks/>
          </p:cNvSpPr>
          <p:nvPr/>
        </p:nvSpPr>
        <p:spPr bwMode="auto">
          <a:xfrm>
            <a:off x="455064" y="3252400"/>
            <a:ext cx="8233872" cy="1608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ＭＳ Ｐゴシック" charset="0"/>
                <a:cs typeface="Arial"/>
              </a:defRPr>
            </a:lvl1pPr>
            <a:lvl2pPr marL="45720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ＭＳ Ｐゴシック" charset="0"/>
                <a:cs typeface="Arial"/>
              </a:defRPr>
            </a:lvl2pPr>
            <a:lvl3pPr marL="91440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Arial"/>
                <a:ea typeface="ＭＳ Ｐゴシック" charset="0"/>
                <a:cs typeface="Arial"/>
              </a:defRPr>
            </a:lvl3pPr>
            <a:lvl4pPr marL="137160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Arial"/>
                <a:ea typeface="ＭＳ Ｐゴシック" charset="0"/>
                <a:cs typeface="Arial"/>
              </a:defRPr>
            </a:lvl4pPr>
            <a:lvl5pPr marL="1828800" indent="0" algn="ctr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Arial"/>
                <a:ea typeface="ＭＳ Ｐゴシック" charset="0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1"/>
                </a:solidFill>
              </a:rPr>
              <a:t>Team P28</a:t>
            </a:r>
            <a:br>
              <a:rPr lang="en-US" b="1">
                <a:solidFill>
                  <a:schemeClr val="tx1"/>
                </a:solidFill>
              </a:rPr>
            </a:br>
            <a:r>
              <a:rPr lang="en-US" sz="2000">
                <a:solidFill>
                  <a:schemeClr val="tx1"/>
                </a:solidFill>
              </a:rPr>
              <a:t>Abhishek Rao | Manav Shah | </a:t>
            </a:r>
            <a:r>
              <a:rPr lang="en-US" sz="2000" err="1">
                <a:solidFill>
                  <a:schemeClr val="tx1"/>
                </a:solidFill>
              </a:rPr>
              <a:t>Srimadh</a:t>
            </a:r>
            <a:r>
              <a:rPr lang="en-US" sz="2000">
                <a:solidFill>
                  <a:schemeClr val="tx1"/>
                </a:solidFill>
              </a:rPr>
              <a:t> Rao</a:t>
            </a:r>
          </a:p>
          <a:p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ALDA FALL 24 – NCSU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3649-381A-6F6E-051B-A2F56C61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2CDF-E8E5-892C-E996-C76238F28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0950"/>
            <a:ext cx="8229600" cy="2757377"/>
          </a:xfrm>
        </p:spPr>
        <p:txBody>
          <a:bodyPr/>
          <a:lstStyle/>
          <a:p>
            <a:r>
              <a:rPr lang="en-US" sz="1800" dirty="0"/>
              <a:t>Modern soccer generates massive data </a:t>
            </a:r>
          </a:p>
          <a:p>
            <a:pPr lvl="1"/>
            <a:r>
              <a:rPr lang="en-US" sz="1800" dirty="0"/>
              <a:t>3M data points per match (  </a:t>
            </a:r>
            <a:r>
              <a:rPr lang="en-US" sz="1050">
                <a:hlinkClick r:id="rId2"/>
              </a:rPr>
              <a:t>StatsPerform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75+ metrics per player (  </a:t>
            </a:r>
            <a:r>
              <a:rPr lang="en-US" sz="1050">
                <a:hlinkClick r:id="rId3"/>
              </a:rPr>
              <a:t>StatsPerform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Over €10B transfer market (2023) (     </a:t>
            </a:r>
            <a:r>
              <a:rPr lang="en-US" sz="1050">
                <a:hlinkClick r:id="rId4"/>
              </a:rPr>
              <a:t>TransferMarkt</a:t>
            </a:r>
            <a:r>
              <a:rPr lang="en-US" sz="1800" dirty="0"/>
              <a:t>)</a:t>
            </a:r>
          </a:p>
          <a:p>
            <a:pPr marL="457200" lvl="1" indent="0">
              <a:buNone/>
            </a:pPr>
            <a:endParaRPr lang="en-US" sz="1800" dirty="0"/>
          </a:p>
          <a:p>
            <a:pPr indent="-285750"/>
            <a:r>
              <a:rPr lang="en-US" sz="1800" b="1" dirty="0"/>
              <a:t>Success story</a:t>
            </a:r>
          </a:p>
          <a:p>
            <a:pPr lvl="1"/>
            <a:r>
              <a:rPr lang="en-US" sz="1800" dirty="0"/>
              <a:t>Liverpool FC used data-driven approach for transfers (   </a:t>
            </a:r>
            <a:r>
              <a:rPr lang="en-US" sz="1050" dirty="0">
                <a:hlinkClick r:id="rId5"/>
              </a:rPr>
              <a:t>Medium</a:t>
            </a:r>
            <a:r>
              <a:rPr lang="en-US" sz="1800" dirty="0"/>
              <a:t>)</a:t>
            </a:r>
          </a:p>
        </p:txBody>
      </p:sp>
      <p:pic>
        <p:nvPicPr>
          <p:cNvPr id="6" name="Picture 5" descr="A black background with a black square">
            <a:extLst>
              <a:ext uri="{FF2B5EF4-FFF2-40B4-BE49-F238E27FC236}">
                <a16:creationId xmlns:a16="http://schemas.microsoft.com/office/drawing/2014/main" id="{B9F2A224-9470-4F1E-9328-8F406E0E47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0430" y="4003299"/>
            <a:ext cx="166099" cy="166099"/>
          </a:xfrm>
          <a:prstGeom prst="rect">
            <a:avLst/>
          </a:prstGeom>
        </p:spPr>
      </p:pic>
      <p:pic>
        <p:nvPicPr>
          <p:cNvPr id="1028" name="Picture 4" descr="Transfermarkt - Wikipedia">
            <a:extLst>
              <a:ext uri="{FF2B5EF4-FFF2-40B4-BE49-F238E27FC236}">
                <a16:creationId xmlns:a16="http://schemas.microsoft.com/office/drawing/2014/main" id="{621A9010-078D-9AE6-0A40-6142362DA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7051" y="3031293"/>
            <a:ext cx="267624" cy="11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C981183-FC01-8D6E-F14C-6A2F4798BA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/>
        </p:blipFill>
        <p:spPr bwMode="auto">
          <a:xfrm>
            <a:off x="3687286" y="2656477"/>
            <a:ext cx="125576" cy="19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11FD3A4-BFFF-1716-7AB7-CBF263753E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/>
        </p:blipFill>
        <p:spPr bwMode="auto">
          <a:xfrm>
            <a:off x="3997166" y="2334458"/>
            <a:ext cx="125576" cy="19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42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58754-7499-8C1C-BB69-85C2EE81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27D22-9F1F-3D4E-64CB-4E7186F0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6E85D-E67E-E00F-2D6A-6CCB56118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" y="1560194"/>
            <a:ext cx="8161020" cy="3217545"/>
          </a:xfrm>
        </p:spPr>
        <p:txBody>
          <a:bodyPr/>
          <a:lstStyle/>
          <a:p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[1]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Ulmer, Ben, Matthew Fernandez, and Michael Peterson. "Predicting soccer match results in the English premier league." Doctoral dissertation, Doctoral dissertation, Ph. D. dissertation, Stanford (2013). </a:t>
            </a:r>
            <a:endParaRPr lang="en-US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Accuracy: 50%</a:t>
            </a:r>
          </a:p>
          <a:p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[2]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L. </a:t>
            </a:r>
            <a:r>
              <a:rPr lang="en-US" sz="12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Hervert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-Escobar, T. I. Matis and N. Hernandez-Gress, "Prediction Learning Model for Soccer Matches Outcomes," </a:t>
            </a:r>
            <a:r>
              <a:rPr lang="en-US" sz="12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2018 Seventeenth Mexican International Conference on Artificial Intelligence (MICAI)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Guadalajara, Mexico, 2018.</a:t>
            </a:r>
            <a:endParaRPr lang="en-US" sz="12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Accuracy: 47.92%</a:t>
            </a:r>
          </a:p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[3]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Holmes, Benjamin, and Ian G. McHale. "Forecasting football match results using a player rating based model."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International Journal of Forecasting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40.1 (2024): 302-312.</a:t>
            </a:r>
          </a:p>
          <a:p>
            <a:pPr lvl="1"/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of best model: 53.88%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[4]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Shin, J., &amp; Gasparyan, R. (2014). A novel way to soccer match prediction. Stanford University: Department of Computer Science.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[5]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Luca Pappalardo, Paolo 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Cintia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Paolo 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Ferragina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Emanuele 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Massucco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Dino 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Pedreschi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Fosca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Gian-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notti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2019. 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PlayeRank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Data-driven Performance Evaluation and Player Ranking in Soccer via a Machine Learning Approach. ACM Trans. </a:t>
            </a:r>
            <a:r>
              <a:rPr lang="en-US" sz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Intell</a:t>
            </a:r>
            <a:r>
              <a:rPr lang="en-US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Syst. Technol. 10, 5, Article 59 (September 2019).</a:t>
            </a:r>
            <a:endParaRPr lang="en-US" sz="12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16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079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F645-CF11-22A8-040C-C76FE88A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3E9D7-30CB-A6AA-0244-0FD26AB43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5460"/>
            <a:ext cx="8229600" cy="3065054"/>
          </a:xfrm>
        </p:spPr>
        <p:txBody>
          <a:bodyPr/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European Soccer Database (2008-2016) comprising of 5 major leagues, 10,000+ matches, 25,000+ players.</a:t>
            </a:r>
          </a:p>
          <a:p>
            <a:pPr lvl="1"/>
            <a:r>
              <a:rPr lang="en-US" sz="16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dataset’s rich, interconnected information on matches, player attributes, and team metrics allows us to extract valuable insights.</a:t>
            </a:r>
          </a:p>
          <a:p>
            <a:pPr marL="457200" lvl="1" indent="0">
              <a:buNone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Can we use the dataset to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Predict match outcomes?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Identify optimal player transfers?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Optimize team’s performance?</a:t>
            </a:r>
          </a:p>
        </p:txBody>
      </p:sp>
    </p:spTree>
    <p:extLst>
      <p:ext uri="{BB962C8B-B14F-4D97-AF65-F5344CB8AC3E}">
        <p14:creationId xmlns:p14="http://schemas.microsoft.com/office/powerpoint/2010/main" val="2635133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ED2E-AAD4-27F9-69CC-0357B5A2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01B3-95D8-D27F-1CFB-11D2067D4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4481"/>
            <a:ext cx="8336280" cy="3207056"/>
          </a:xfrm>
        </p:spPr>
        <p:txBody>
          <a:bodyPr/>
          <a:lstStyle/>
          <a:p>
            <a:r>
              <a:rPr lang="en-US" sz="1400" b="1" dirty="0"/>
              <a:t>Methodology</a:t>
            </a:r>
          </a:p>
          <a:p>
            <a:pPr lvl="1"/>
            <a:r>
              <a:rPr lang="en-US" sz="1400" dirty="0"/>
              <a:t>Comprehensive Exploratory Data Analysis (EDA)</a:t>
            </a:r>
          </a:p>
          <a:p>
            <a:pPr lvl="1"/>
            <a:r>
              <a:rPr lang="en-US" sz="1400" dirty="0"/>
              <a:t>Data Preprocessing</a:t>
            </a:r>
          </a:p>
          <a:p>
            <a:pPr lvl="1"/>
            <a:r>
              <a:rPr lang="en-US" sz="1400" dirty="0"/>
              <a:t>Data Transformation</a:t>
            </a:r>
          </a:p>
          <a:p>
            <a:pPr lvl="1"/>
            <a:r>
              <a:rPr lang="en-US" sz="1400" dirty="0"/>
              <a:t>Prediction of objectives</a:t>
            </a:r>
          </a:p>
          <a:p>
            <a:r>
              <a:rPr lang="en-US" sz="1400" b="1" dirty="0"/>
              <a:t>Prediction of Match Outcomes</a:t>
            </a:r>
          </a:p>
          <a:p>
            <a:pPr lvl="1"/>
            <a:r>
              <a:rPr lang="en-US" sz="1400" dirty="0"/>
              <a:t>Neural Networks</a:t>
            </a:r>
          </a:p>
          <a:p>
            <a:pPr lvl="1"/>
            <a:r>
              <a:rPr lang="en-US" sz="1400" dirty="0"/>
              <a:t>Random Forest Classification</a:t>
            </a:r>
          </a:p>
          <a:p>
            <a:pPr lvl="1"/>
            <a:r>
              <a:rPr lang="en-US" sz="1400" dirty="0"/>
              <a:t>Gradient Boosting</a:t>
            </a:r>
          </a:p>
          <a:p>
            <a:r>
              <a:rPr lang="en-US" sz="1400" b="1" dirty="0"/>
              <a:t>Prediction of Player Transfers</a:t>
            </a:r>
          </a:p>
          <a:p>
            <a:pPr lvl="1"/>
            <a:r>
              <a:rPr lang="en-US" sz="1400" dirty="0"/>
              <a:t>Filter players that have high rating and high potential</a:t>
            </a:r>
          </a:p>
          <a:p>
            <a:pPr lvl="1"/>
            <a:r>
              <a:rPr lang="en-US" sz="1400" dirty="0"/>
              <a:t>Forecast player ratings to show future potential and usefulness for the team</a:t>
            </a:r>
          </a:p>
        </p:txBody>
      </p:sp>
    </p:spTree>
    <p:extLst>
      <p:ext uri="{BB962C8B-B14F-4D97-AF65-F5344CB8AC3E}">
        <p14:creationId xmlns:p14="http://schemas.microsoft.com/office/powerpoint/2010/main" val="30909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4D5B5-FE9C-A4E6-4EAD-FCD63A6E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 &amp;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34E12-A8B2-637C-8A35-3BDBA499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258"/>
            <a:ext cx="8229600" cy="2867422"/>
          </a:xfrm>
        </p:spPr>
        <p:txBody>
          <a:bodyPr/>
          <a:lstStyle/>
          <a:p>
            <a:r>
              <a:rPr lang="en-US" sz="1600" b="1" dirty="0"/>
              <a:t>Steps</a:t>
            </a:r>
          </a:p>
          <a:p>
            <a:pPr lvl="1"/>
            <a:r>
              <a:rPr lang="en-US" sz="1600" b="1" dirty="0"/>
              <a:t>Merging</a:t>
            </a:r>
            <a:r>
              <a:rPr lang="en-US" sz="1600" dirty="0"/>
              <a:t> tables using unique identifiers.</a:t>
            </a:r>
          </a:p>
          <a:p>
            <a:pPr lvl="1"/>
            <a:r>
              <a:rPr lang="en-US" sz="1600" dirty="0"/>
              <a:t>Handling </a:t>
            </a:r>
            <a:r>
              <a:rPr lang="en-US" sz="1600" b="1" dirty="0"/>
              <a:t>missing values </a:t>
            </a:r>
            <a:r>
              <a:rPr lang="en-US" sz="1600" dirty="0"/>
              <a:t>with average fills.</a:t>
            </a:r>
          </a:p>
          <a:p>
            <a:pPr lvl="1"/>
            <a:r>
              <a:rPr lang="en-US" sz="1600" b="1" dirty="0"/>
              <a:t>Aggregating</a:t>
            </a:r>
            <a:r>
              <a:rPr lang="en-US" sz="1600" dirty="0"/>
              <a:t> player, team data to analyze performance over multiple years.</a:t>
            </a:r>
          </a:p>
          <a:p>
            <a:pPr lvl="1"/>
            <a:endParaRPr lang="en-US" sz="1600" b="1" dirty="0"/>
          </a:p>
          <a:p>
            <a:r>
              <a:rPr lang="en-US" sz="1600" b="1" dirty="0"/>
              <a:t>Feature Engineering</a:t>
            </a:r>
            <a:endParaRPr lang="en-US" sz="1600" dirty="0"/>
          </a:p>
          <a:p>
            <a:pPr lvl="1"/>
            <a:r>
              <a:rPr lang="en-US" sz="1600" dirty="0"/>
              <a:t>Home/Away team metrics based on players ratings.</a:t>
            </a:r>
          </a:p>
          <a:p>
            <a:pPr lvl="1"/>
            <a:r>
              <a:rPr lang="en-US" sz="1600" dirty="0"/>
              <a:t>Match outcome encoding: Home Win (1), Draw (0), Loss (-1).</a:t>
            </a:r>
          </a:p>
          <a:p>
            <a:pPr lvl="1"/>
            <a:r>
              <a:rPr lang="en-US" sz="1600" dirty="0"/>
              <a:t>Tactical attributes (Numerical and Categorical) encoded for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2815078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FAA3-FE61-6A25-81B9-6EF279CC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A3326-C3D6-D8A3-A7E7-81F64D94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6227"/>
            <a:ext cx="8229600" cy="801290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EDA Insights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97947-73A1-85C6-F5C8-837E7757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42" y="3960494"/>
            <a:ext cx="2472929" cy="560113"/>
          </a:xfrm>
        </p:spPr>
        <p:txBody>
          <a:bodyPr/>
          <a:lstStyle/>
          <a:p>
            <a:pPr marL="0" indent="0" algn="ctr">
              <a:buNone/>
            </a:pPr>
            <a:r>
              <a:rPr lang="en-U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Skill metrics </a:t>
            </a:r>
            <a:r>
              <a:rPr lang="en-U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(e.g., passing, shooting) exhibit a bell curve.</a:t>
            </a:r>
          </a:p>
        </p:txBody>
      </p:sp>
      <p:pic>
        <p:nvPicPr>
          <p:cNvPr id="9" name="Picture 8" descr="A group of blue and white graphs&#10;&#10;Description automatically generated">
            <a:extLst>
              <a:ext uri="{FF2B5EF4-FFF2-40B4-BE49-F238E27FC236}">
                <a16:creationId xmlns:a16="http://schemas.microsoft.com/office/drawing/2014/main" id="{E3F2A847-1C0A-4AC0-674E-5EE087D3A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26" y="1320299"/>
            <a:ext cx="2473051" cy="24574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FB8768-AD24-3B87-F4D9-38EA6EA9B682}"/>
              </a:ext>
            </a:extLst>
          </p:cNvPr>
          <p:cNvSpPr txBox="1"/>
          <p:nvPr/>
        </p:nvSpPr>
        <p:spPr>
          <a:xfrm>
            <a:off x="5780597" y="3987167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endParaRPr lang="en-US" sz="160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 descr="A collage of graphs&#10;&#10;Description automatically generated">
            <a:extLst>
              <a:ext uri="{FF2B5EF4-FFF2-40B4-BE49-F238E27FC236}">
                <a16:creationId xmlns:a16="http://schemas.microsoft.com/office/drawing/2014/main" id="{DE4C4BF4-DEC5-7A62-4264-1EF616FD0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63" y="1320299"/>
            <a:ext cx="3046929" cy="2725669"/>
          </a:xfrm>
          <a:prstGeom prst="rect">
            <a:avLst/>
          </a:prstGeom>
        </p:spPr>
      </p:pic>
      <p:pic>
        <p:nvPicPr>
          <p:cNvPr id="12" name="Content Placeholder 5" descr="A group of maps of different regions&#10;&#10;Description automatically generated with medium confidence">
            <a:extLst>
              <a:ext uri="{FF2B5EF4-FFF2-40B4-BE49-F238E27FC236}">
                <a16:creationId xmlns:a16="http://schemas.microsoft.com/office/drawing/2014/main" id="{985668F2-D63D-B495-2249-2214BB5FB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769448" y="1035588"/>
            <a:ext cx="2849607" cy="3771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6211B-167E-4435-3A8B-63AEFE054E43}"/>
              </a:ext>
            </a:extLst>
          </p:cNvPr>
          <p:cNvSpPr txBox="1">
            <a:spLocks/>
          </p:cNvSpPr>
          <p:nvPr/>
        </p:nvSpPr>
        <p:spPr bwMode="auto">
          <a:xfrm>
            <a:off x="5911485" y="4156444"/>
            <a:ext cx="3104707" cy="1474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0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League characteristics: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La Liga emphasizes technical passing.</a:t>
            </a:r>
          </a:p>
          <a:p>
            <a:pPr lvl="1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Bundesliga: Fast-paced build-up.</a:t>
            </a:r>
          </a:p>
          <a:p>
            <a:pPr lvl="1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Ligue 1: Defensive intensity.</a:t>
            </a:r>
          </a:p>
        </p:txBody>
      </p:sp>
    </p:spTree>
    <p:extLst>
      <p:ext uri="{BB962C8B-B14F-4D97-AF65-F5344CB8AC3E}">
        <p14:creationId xmlns:p14="http://schemas.microsoft.com/office/powerpoint/2010/main" val="178738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061C-4C38-EFB0-7525-4586F13A8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2" y="1185279"/>
            <a:ext cx="3085072" cy="801290"/>
          </a:xfrm>
        </p:spPr>
        <p:txBody>
          <a:bodyPr/>
          <a:lstStyle/>
          <a:p>
            <a:r>
              <a:rPr lang="en-US" dirty="0"/>
              <a:t>EDA Insights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C2ABEB-4EF7-3CBB-009D-D43B32470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876" y="480645"/>
            <a:ext cx="5380217" cy="46628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51E4A5-86E6-9972-8998-D316EF4E2615}"/>
              </a:ext>
            </a:extLst>
          </p:cNvPr>
          <p:cNvSpPr txBox="1"/>
          <p:nvPr/>
        </p:nvSpPr>
        <p:spPr>
          <a:xfrm>
            <a:off x="173416" y="2678206"/>
            <a:ext cx="28237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see that lots of features are highly correlated</a:t>
            </a:r>
          </a:p>
        </p:txBody>
      </p:sp>
    </p:spTree>
    <p:extLst>
      <p:ext uri="{BB962C8B-B14F-4D97-AF65-F5344CB8AC3E}">
        <p14:creationId xmlns:p14="http://schemas.microsoft.com/office/powerpoint/2010/main" val="4271211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D9E3-19EA-2427-99AD-9B11C91CA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Prediction Strategy for Match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2BAAB-A1BD-F4C6-131C-E8A1532A5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2575"/>
            <a:ext cx="3902149" cy="3118247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 Forest Classifier</a:t>
            </a:r>
            <a:endParaRPr lang="en-US" sz="1200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Aggregates multiple decision trees to reduce overfitting.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n_estimators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=100, 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class_weight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='balanced’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Effective for multiclass classification, Reduces overfitting, Implicit feature selection</a:t>
            </a:r>
          </a:p>
          <a:p>
            <a:pPr marL="457200" lvl="1" indent="0">
              <a:buNone/>
            </a:pPr>
            <a:endParaRPr lang="en-US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Boosting Classifier</a:t>
            </a:r>
            <a:endParaRPr lang="en-US" sz="1200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Trains sequential models to minimize classification errors by combining weak learners.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n_estimators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=100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High Accuracy, Suitable for complex data patterns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3418B2-5762-2C64-ED39-C8B99171C825}"/>
              </a:ext>
            </a:extLst>
          </p:cNvPr>
          <p:cNvSpPr txBox="1"/>
          <p:nvPr/>
        </p:nvSpPr>
        <p:spPr>
          <a:xfrm>
            <a:off x="4934859" y="1552121"/>
            <a:ext cx="36793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 startAt="3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Neural Network with </a:t>
            </a:r>
            <a:r>
              <a:rPr lang="en-US" sz="1200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CrossEntropy</a:t>
            </a: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Loss</a:t>
            </a:r>
            <a:endParaRPr lang="en-US" sz="1200" b="1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2 layers (500, 100 neurons)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hidden_layer_sizes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=(500,100), 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max_iter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=500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Standard 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CrossEntropy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Loss</a:t>
            </a:r>
          </a:p>
          <a:p>
            <a:pPr lvl="1"/>
            <a:endParaRPr lang="en-US" sz="12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 startAt="4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Neural Network(</a:t>
            </a:r>
            <a:r>
              <a:rPr lang="en-US" sz="1200" b="1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with Focal Loss:</a:t>
            </a:r>
            <a:endParaRPr lang="en-US" sz="1200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5 layers (128, 256, 128, 64 neurons) with dropout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 Epochs=50, 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Batch_size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=32, 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Learning_rate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=0.001, </a:t>
            </a:r>
            <a:r>
              <a:rPr lang="en-US" sz="12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Weight_decay</a:t>
            </a:r>
            <a:endParaRPr lang="en-US" sz="1200" dirty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Advantages 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Focuses on hard-to-classify, underrepresented samples</a:t>
            </a:r>
          </a:p>
        </p:txBody>
      </p:sp>
    </p:spTree>
    <p:extLst>
      <p:ext uri="{BB962C8B-B14F-4D97-AF65-F5344CB8AC3E}">
        <p14:creationId xmlns:p14="http://schemas.microsoft.com/office/powerpoint/2010/main" val="2458219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AA8E-A9D0-3C17-7710-BFC1A007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FDC2E-3B84-7B71-16AB-3DEF2DAA5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57906"/>
            <a:ext cx="8229600" cy="80129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Prediction Strategy for Player Transfers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B16C-92C7-79DA-3327-C307FC669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389"/>
            <a:ext cx="8229600" cy="311824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sz="1500" b="1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Data-Driven Team Weakness Identification</a:t>
            </a:r>
          </a:p>
          <a:p>
            <a:pPr marL="628650" lvl="1" indent="-22860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Analyzes goals scored/conceded and pre-2016 team stats (e.g., build-up, chance creation).</a:t>
            </a:r>
          </a:p>
          <a:p>
            <a:pPr marL="628650" lvl="1" indent="-22860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Defines </a:t>
            </a:r>
            <a:r>
              <a:rPr lang="en-US" sz="1500" b="1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 roles </a:t>
            </a: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(attacker, defender, midfielder, goalkeeper) based on </a:t>
            </a:r>
            <a:r>
              <a:rPr lang="en-US" sz="1500" b="1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deficiencies</a:t>
            </a: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500" b="1" dirty="0">
              <a:solidFill>
                <a:srgbClr val="0E0E0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500" b="1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Targeted Player Filtering and Ranking</a:t>
            </a:r>
          </a:p>
          <a:p>
            <a:pPr marL="628650" lvl="1" indent="-22860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Filters players by </a:t>
            </a:r>
            <a:r>
              <a:rPr lang="en-US" sz="1500" b="1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role-specific metrics </a:t>
            </a: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using computed mean thresholds.</a:t>
            </a:r>
          </a:p>
          <a:p>
            <a:pPr marL="628650" lvl="1" indent="-22860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Identifies </a:t>
            </a:r>
            <a:r>
              <a:rPr lang="en-US" sz="1500" b="1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top-performing</a:t>
            </a: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500" b="1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high-potential</a:t>
            </a: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candidates based on dynamic thresholds.</a:t>
            </a:r>
            <a:endParaRPr lang="en-US" sz="1500" b="1" dirty="0">
              <a:solidFill>
                <a:srgbClr val="0E0E0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500" b="1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Predictive Modeling for Future Potential</a:t>
            </a:r>
          </a:p>
          <a:p>
            <a:pPr marL="628650" lvl="1" indent="-22860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US" sz="1500" b="1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linear regression </a:t>
            </a: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 historical data to project future player potential.</a:t>
            </a:r>
          </a:p>
          <a:p>
            <a:pPr marL="628650" lvl="1" indent="-22860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Applies latest stats to generate projected potential, highlighting long-term growth.</a:t>
            </a:r>
          </a:p>
        </p:txBody>
      </p:sp>
    </p:spTree>
    <p:extLst>
      <p:ext uri="{BB962C8B-B14F-4D97-AF65-F5344CB8AC3E}">
        <p14:creationId xmlns:p14="http://schemas.microsoft.com/office/powerpoint/2010/main" val="122784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8BB8F-1CF1-5093-0DE4-5E4C39B1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D0786-B67A-8CFC-3440-B9C98A56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20" y="341441"/>
            <a:ext cx="8229600" cy="801290"/>
          </a:xfrm>
        </p:spPr>
        <p:txBody>
          <a:bodyPr/>
          <a:lstStyle/>
          <a:p>
            <a:r>
              <a:rPr lang="en-US"/>
              <a:t>Results for Match Outcome Prediction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5728B3-86B7-70A2-2A92-D251930A1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46" y="2891115"/>
            <a:ext cx="2961125" cy="2252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DDA97E-E443-2224-0D65-B83C9FC9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212" y="2891115"/>
            <a:ext cx="2961723" cy="22523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61CF97-8D50-5232-4459-3792BE2B2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64" y="1013636"/>
            <a:ext cx="7115871" cy="182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03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66D82-8DDC-FEE4-5D53-BC56A7D07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37D5-9392-E29A-3EAF-34489A302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 for Match Outcome Prediction</a:t>
            </a:r>
          </a:p>
        </p:txBody>
      </p:sp>
      <p:pic>
        <p:nvPicPr>
          <p:cNvPr id="4" name="Content Placeholder 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4C39D846-12C3-F568-CD37-C0B405B4E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862" y="1665768"/>
            <a:ext cx="8554276" cy="2878840"/>
          </a:xfrm>
        </p:spPr>
      </p:pic>
    </p:spTree>
    <p:extLst>
      <p:ext uri="{BB962C8B-B14F-4D97-AF65-F5344CB8AC3E}">
        <p14:creationId xmlns:p14="http://schemas.microsoft.com/office/powerpoint/2010/main" val="132705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0883-C5EC-E465-DD0E-CF1FDB8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E8ABD8-E9E4-22F1-4387-0671B0BE3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2746" y="445544"/>
            <a:ext cx="6835140" cy="464715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0C1773-CA98-0037-1E01-A21599DB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1656"/>
            <a:ext cx="2109992" cy="80129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EC3B51-18E7-02C0-9AD7-B13932E4B7A2}"/>
              </a:ext>
            </a:extLst>
          </p:cNvPr>
          <p:cNvSpPr txBox="1"/>
          <p:nvPr/>
        </p:nvSpPr>
        <p:spPr>
          <a:xfrm>
            <a:off x="205825" y="2344057"/>
            <a:ext cx="18806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Club: Liverpool FC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Weakness: Attack</a:t>
            </a:r>
          </a:p>
        </p:txBody>
      </p:sp>
    </p:spTree>
    <p:extLst>
      <p:ext uri="{BB962C8B-B14F-4D97-AF65-F5344CB8AC3E}">
        <p14:creationId xmlns:p14="http://schemas.microsoft.com/office/powerpoint/2010/main" val="154627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B9B1C-3F9B-5C87-C99C-B15794C04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EF437-4697-C86F-B9E5-7C2AD971B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9B02-938D-AB6B-D5C5-FADE601F9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4470"/>
            <a:ext cx="8229600" cy="3118247"/>
          </a:xfrm>
        </p:spPr>
        <p:txBody>
          <a:bodyPr/>
          <a:lstStyle/>
          <a:p>
            <a:pPr algn="l"/>
            <a:r>
              <a:rPr lang="en-US" sz="15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 Forest has the lowest accuracy, but it is a very simple model to implement and train, and it achieves a good F1-Score.</a:t>
            </a:r>
          </a:p>
          <a:p>
            <a:pPr algn="l"/>
            <a:r>
              <a:rPr lang="en-US" sz="15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Boosting provides one of the best accuracies while maintaining a high F1- score, showcasing the power of ensemble models.</a:t>
            </a:r>
          </a:p>
          <a:p>
            <a:pPr algn="l"/>
            <a:r>
              <a:rPr lang="en-US" sz="15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Neural networks tend to overfit the data</a:t>
            </a:r>
            <a:r>
              <a:rPr lang="en-US" sz="15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increasing the hidden layer size leads to a dramatic decrease in the F1-score due to the underrepresentation of the ‘Draw’ class.</a:t>
            </a:r>
          </a:p>
          <a:p>
            <a:pPr algn="l"/>
            <a:r>
              <a:rPr lang="en-US" sz="15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Player transfer recommendations are an initial step for scouting reports.</a:t>
            </a:r>
          </a:p>
          <a:p>
            <a:pPr marL="0" indent="0" algn="l">
              <a:buNone/>
            </a:pPr>
            <a:endParaRPr lang="en-US" sz="15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50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Any</a:t>
            </a:r>
            <a:r>
              <a:rPr lang="en-US" sz="15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Scope for improvement</a:t>
            </a:r>
            <a:r>
              <a:rPr lang="en-US" sz="1500" dirty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5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Handle class imbalance while maintaining accuracy.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Try </a:t>
            </a:r>
            <a:r>
              <a:rPr lang="en-US" sz="15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ensembling</a:t>
            </a:r>
            <a:r>
              <a:rPr lang="en-US" sz="15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different classifiers using voting methods to improve accuracy.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 player transfer recommendations by incorporating more features.</a:t>
            </a:r>
          </a:p>
        </p:txBody>
      </p:sp>
    </p:spTree>
    <p:extLst>
      <p:ext uri="{BB962C8B-B14F-4D97-AF65-F5344CB8AC3E}">
        <p14:creationId xmlns:p14="http://schemas.microsoft.com/office/powerpoint/2010/main" val="903709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9F45-B62B-0F09-EA96-23C23139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C7A4-1180-5EC2-EB43-314F57B5C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6554"/>
            <a:ext cx="8229600" cy="717918"/>
          </a:xfrm>
        </p:spPr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787DCF-5D9E-22E2-DA1C-D0BAD77590F8}"/>
              </a:ext>
            </a:extLst>
          </p:cNvPr>
          <p:cNvSpPr txBox="1">
            <a:spLocks/>
          </p:cNvSpPr>
          <p:nvPr/>
        </p:nvSpPr>
        <p:spPr bwMode="auto">
          <a:xfrm>
            <a:off x="457200" y="3499028"/>
            <a:ext cx="8229600" cy="717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76620595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NCStateU-horizontal-left-logo</Template>
  <TotalTime>0</TotalTime>
  <Words>949</Words>
  <Application>Microsoft Office PowerPoint</Application>
  <PresentationFormat>On-screen Show (16:9)</PresentationFormat>
  <Paragraphs>109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NCStateU-horizontal-left-logo</vt:lpstr>
      <vt:lpstr>Soccer Sage</vt:lpstr>
      <vt:lpstr>Background &amp; Motivation</vt:lpstr>
      <vt:lpstr>References</vt:lpstr>
      <vt:lpstr>Dataset Overview</vt:lpstr>
      <vt:lpstr>Our Approach</vt:lpstr>
      <vt:lpstr>Data Preprocessing &amp; Transformation</vt:lpstr>
      <vt:lpstr>EDA Insights</vt:lpstr>
      <vt:lpstr>EDA Insights</vt:lpstr>
      <vt:lpstr>Prediction Strategy for Match Outcome</vt:lpstr>
      <vt:lpstr>Prediction Strategy for Player Transfers</vt:lpstr>
      <vt:lpstr>Results for Match Outcome Prediction</vt:lpstr>
      <vt:lpstr>Results for Match Outcome Prediction</vt:lpstr>
      <vt:lpstr>Results</vt:lpstr>
      <vt:lpstr>Conclusion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Manav Divyesh Shah</dc:creator>
  <cp:lastModifiedBy>Abhishek Rao</cp:lastModifiedBy>
  <cp:revision>1</cp:revision>
  <dcterms:created xsi:type="dcterms:W3CDTF">2024-11-12T21:01:53Z</dcterms:created>
  <dcterms:modified xsi:type="dcterms:W3CDTF">2024-11-13T04:44:47Z</dcterms:modified>
</cp:coreProperties>
</file>